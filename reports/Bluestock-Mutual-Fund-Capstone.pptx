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Arimo" panose="020B0604020202020204" pitchFamily="34" charset="0"/>
      <p:regular r:id="rId15"/>
    </p:embeddedFont>
    <p:embeddedFont>
      <p:font typeface="Syne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4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9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starogers/Bluestock_MF_Capstone_Projec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2709" y="2382441"/>
            <a:ext cx="920617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Bluestock Mutual Fund Capstone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01261" y="3048893"/>
            <a:ext cx="1078917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Analytics — Final Presentation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98185" y="3867249"/>
            <a:ext cx="10795325" cy="14883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393" y="4156273"/>
            <a:ext cx="1140491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by: Atharva Ranjan | June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068586"/>
            <a:ext cx="4834809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&amp; Objective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185" y="1936948"/>
            <a:ext cx="107953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Indian mutual fund industry manages Rs 81+ lakh crore across 1,900+ schemes. Fund selection requires comparing NAV trends, risk metrics, and manager performance across complex, fragmented datasets.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185" y="2874466"/>
            <a:ext cx="343774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8185" y="3525540"/>
            <a:ext cx="10795325" cy="2263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an end-to-end ETL pipeline from raw CSVs to a star-schema warehouse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and validate 10 datasets with 100K+ records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 exploratory analysis with 18 publication-quality charts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Compute fund scorecards with CAGR, Sharpe, Alpha, and drawdown metrics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 an interactive 4-page Tableau dashboard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Advanced analytics: VaR/CVaR, rolling Sharpe, investor cohorts, HHI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813197"/>
            <a:ext cx="43644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Sources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185" y="1681559"/>
            <a:ext cx="10795325" cy="381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 Fund Master — 40 schemes, fund houses, categories, risk grades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 NAV History — 46K daily NAV records → 64K after calendar fill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 AUM by Fund House — quarterly AUM across 10 fund houses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 Monthly SIP Inflows — 48 months of SIP trend data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05 Category Inflows — monthly net flows by fund category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06 Industry Folio Count — total folio growth metrics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07 Scheme Performance — returns, alpha, beta, Sharpe for 40 funds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08 Investor Transactions — 50K transactions with demographics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09 Portfolio Holdings — stock-level fund compositions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Benchmark Indices — NIFTY50, NIFTY100 daily closes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185" y="5725517"/>
            <a:ext cx="1140491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Feed: mfapi.in — 6 bluechip scheme NAVs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723205"/>
            <a:ext cx="6187821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Architecture &amp; ETL Flow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1574403"/>
            <a:ext cx="3598376" cy="718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667" y="2453977"/>
            <a:ext cx="323941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Raw CSVs (10 files)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560" y="1574403"/>
            <a:ext cx="3598475" cy="7180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76043" y="2453977"/>
            <a:ext cx="3239510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Cleaning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5" y="1574403"/>
            <a:ext cx="3598475" cy="7180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74518" y="2453977"/>
            <a:ext cx="3239510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Processed CSVs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85" y="2906216"/>
            <a:ext cx="3598376" cy="7180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77667" y="3785791"/>
            <a:ext cx="323941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SQLite Star Schema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560" y="2906216"/>
            <a:ext cx="3598475" cy="71804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476043" y="3785791"/>
            <a:ext cx="3239510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Analytics &amp; Dashboard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698185" y="4419798"/>
            <a:ext cx="11404910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Star Schema: dim_fund, dim_date → fact_nav, fact_transactions, fact_performance, fact_aum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98185" y="4874320"/>
            <a:ext cx="10795325" cy="1260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 SQLite tables with foreign-key integrity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Calendar forward-fill: 46K → 64K NAV rows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quality reports with validation checks</a:t>
            </a:r>
            <a:endParaRPr lang="en-US" sz="14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Master pipeline: run_pipeline.py with 10 stages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078409"/>
            <a:ext cx="6550159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EDA Highlights — NAV &amp; AUM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2071291"/>
            <a:ext cx="5154384" cy="237877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2071291"/>
            <a:ext cx="5154384" cy="25514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185" y="5071368"/>
            <a:ext cx="10795325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2023 bull-run and 2024 correction windows clearly visible in NAV trends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SBI Mutual Fund dominates AUM — Rs 12.5 lakh crore reference marker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8522" y="596702"/>
            <a:ext cx="6465230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EDA Highlights — SIP &amp; Demographics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22" y="1252041"/>
            <a:ext cx="3929560" cy="166022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244" y="1252041"/>
            <a:ext cx="3929560" cy="40354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8522" y="5544641"/>
            <a:ext cx="9614552" cy="716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SIP inflows reached Rs 31,002 Cr all-time high in December 2025</a:t>
            </a:r>
            <a:endParaRPr lang="en-US" sz="11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Investor participation distributed across multiple age bands</a:t>
            </a:r>
            <a:endParaRPr lang="en-US" sz="11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Industry folios doubled from 13.26 Cr to 26.12 Cr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337965"/>
            <a:ext cx="938913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 Metrics — Scorecard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185" y="2323604"/>
            <a:ext cx="1140491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Composite 0–100 Fund Score = 30% CAGR + 25% Sharpe + 20% Alpha + 15% Expense + 10% Drawdown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185" y="2867124"/>
            <a:ext cx="10795325" cy="2652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1-year and 3-year NAV CAGR computed for all 40 funds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Sharpe Ratio using 6.5% annual risk-free rate proxy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Sortino Ratio using downside-only daily volatility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Alpha and Beta via OLS regression against NIFTY100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Maximum drawdown with peak, trough, and recovery dates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Tracking error vs NIFTY50 and NIFTY100 for top 5 funds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5-year CAGR flagged as unavailable (data starts Jan 2022)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078409"/>
            <a:ext cx="7007447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Benchmark Comparison &amp; Risk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2071291"/>
            <a:ext cx="5154384" cy="255141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2071291"/>
            <a:ext cx="5154384" cy="19431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185" y="5071368"/>
            <a:ext cx="10795325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5 scorecard funds outperformed both NIFTY50 and NIFTY100 benchmarks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VaR (95%) and CVaR computed for all 40 schemes for tail-risk assessment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664567"/>
            <a:ext cx="1026064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— Industry &amp; Performance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1774726"/>
            <a:ext cx="5154384" cy="3695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393" y="5694759"/>
            <a:ext cx="576396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Page 1: Industry Overview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1774726"/>
            <a:ext cx="5154384" cy="3695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40683" y="5694759"/>
            <a:ext cx="576396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Page 2: Fund Performance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723205"/>
            <a:ext cx="724318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— Investors &amp; Market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1716088"/>
            <a:ext cx="5154384" cy="3695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185" y="5636121"/>
            <a:ext cx="576396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Page 3: Investor Analytics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1716088"/>
            <a:ext cx="5154384" cy="3695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5476" y="5636121"/>
            <a:ext cx="576396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Page 4: SIP &amp; Market Trends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415256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5537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Findings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185" y="2400895"/>
            <a:ext cx="10795325" cy="3041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SBI Mutual Fund leads with highest AUM; top 3 fund houses control &gt;50% of industry AUM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SIP inflows grew 67% over 4 years, reaching Rs 31,002 Cr in Dec 2025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Industry folios nearly doubled (13.26 Cr → 26.12 Cr), showing strong retail adoption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Equity funds dominate category inflows; debt categories show seasonal volatility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Top-scored funds consistently outperformed NIFTY50 and NIFTY100 benchmarks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Forward-filled NAV data enabled accurate daily return and CAGR calculations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Alpha analysis revealed most equity funds have positive alpha vs NIFTY100</a:t>
            </a:r>
            <a:endParaRPr lang="en-US" sz="15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HHI analysis shows moderate sector concentration in most equity portfolios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4194" y="1791891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185" y="2827338"/>
            <a:ext cx="10795325" cy="14883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8185" y="3116362"/>
            <a:ext cx="10795325" cy="194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Bluestock Mutual Fund Capstone Project</a:t>
            </a:r>
            <a:endParaRPr lang="en-US" sz="1550" dirty="0"/>
          </a:p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by: Atharva Ranjan</a:t>
            </a:r>
            <a:endParaRPr lang="en-US" sz="1550" dirty="0"/>
          </a:p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u="sng" dirty="0">
                <a:solidFill>
                  <a:srgbClr val="C2B3FF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github.com/sastarogers/Bluestock_MF_Capstone_Project</a:t>
            </a:r>
            <a:endParaRPr lang="en-US" sz="15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June 2026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2B3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Macintosh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Arimo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Atharva Ranjan</cp:lastModifiedBy>
  <cp:revision>2</cp:revision>
  <dcterms:created xsi:type="dcterms:W3CDTF">2026-06-12T12:17:41Z</dcterms:created>
  <dcterms:modified xsi:type="dcterms:W3CDTF">2026-06-12T12:19:29Z</dcterms:modified>
</cp:coreProperties>
</file>